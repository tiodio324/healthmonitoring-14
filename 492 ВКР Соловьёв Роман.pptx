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Kanit Light" panose="020B0604020202020204" charset="-34"/>
      <p:regular r:id="rId21"/>
    </p:embeddedFont>
    <p:embeddedFont>
      <p:font typeface="Martel Sans" panose="020B0604020202020204" charset="0"/>
      <p:regular r:id="rId22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62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2278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image" Target="../media/image14.png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5" Type="http://schemas.openxmlformats.org/officeDocument/2006/relationships/image" Target="../media/image25.svg"/><Relationship Id="rId10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9.svg"/><Relationship Id="rId1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3719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Система мониторинга показателей здоровья пациентов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036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Веб-приложение для удалённого отслеживания жизненно важных показателей с автоматическим выявлением критических отклонений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665440"/>
            <a:ext cx="1733431" cy="426244"/>
          </a:xfrm>
          <a:prstGeom prst="roundRect">
            <a:avLst>
              <a:gd name="adj" fmla="val 17880"/>
            </a:avLst>
          </a:prstGeom>
          <a:solidFill>
            <a:srgbClr val="DFECE9"/>
          </a:solidFill>
          <a:ln/>
        </p:spPr>
      </p:sp>
      <p:sp>
        <p:nvSpPr>
          <p:cNvPr id="4" name="Text 1"/>
          <p:cNvSpPr/>
          <p:nvPr/>
        </p:nvSpPr>
        <p:spPr>
          <a:xfrm>
            <a:off x="929878" y="733425"/>
            <a:ext cx="146125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ОБЗОР ПРОЕКТА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182410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Современное решение для медицинского мониторинга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38757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Что это?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4456867"/>
            <a:ext cx="3501509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Single Page Application для удалённого мониторинга показателей здоровья пациентов. Быстрая навигация без перезагрузки страницы обеспечивает комфортную работу медицинского персонала.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856321" y="38757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Главная цель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856321" y="4456867"/>
            <a:ext cx="35015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Автоматизация отслеживания жизненно важных показателей с возможностью выявления критических отклонений и анализа динамики состояния пациентов.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0487"/>
            <a:ext cx="84889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Технологический стек проекта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202894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4373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React 19.2.0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2927747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Современная библиотека для создания отзывчивого пользовательского интерфейса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202894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62982" y="24373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TypeScript 5.9.3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2982" y="2927747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Типизированный JavaScript для надёжности и предсказуемости кода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114800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8224" y="43492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Vite 7.3.0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8224" y="4839653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Современный инструмент сборки для быстрой разработки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114800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62982" y="43492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Firebase 12.7.0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62982" y="4839653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Realtime Database для хранения медицинских данных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6259116"/>
            <a:ext cx="393334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Управление состоянием: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MobX 6.15.0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5288161" y="6259116"/>
            <a:ext cx="39333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Стилизация: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SCSS/SASS 1.97.1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9782532" y="6259116"/>
            <a:ext cx="4069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Качество кода:</a:t>
            </a: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ESLint, TypeScript ESLint</a:t>
            </a:r>
            <a:endParaRPr lang="en-US" sz="175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B8E2802-E174-4A7A-B02C-EF4C7A97A432}"/>
              </a:ext>
            </a:extLst>
          </p:cNvPr>
          <p:cNvSpPr/>
          <p:nvPr/>
        </p:nvSpPr>
        <p:spPr>
          <a:xfrm>
            <a:off x="12790516" y="7747462"/>
            <a:ext cx="1778924" cy="423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3282" y="603647"/>
            <a:ext cx="7610237" cy="1369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Функциональные возможности системы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253282" y="2301716"/>
            <a:ext cx="219075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253282" y="2643664"/>
            <a:ext cx="3695581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6" name="Text 3"/>
          <p:cNvSpPr/>
          <p:nvPr/>
        </p:nvSpPr>
        <p:spPr>
          <a:xfrm>
            <a:off x="6253282" y="2814161"/>
            <a:ext cx="3695581" cy="684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Неавторизованные пользователи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6253282" y="3630216"/>
            <a:ext cx="3695581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Просмотр главной страницы с общей статистикой системы, базовая информация о пациентах, поиск по имени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167938" y="2301716"/>
            <a:ext cx="219075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0167938" y="2643664"/>
            <a:ext cx="3695581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0" name="Text 7"/>
          <p:cNvSpPr/>
          <p:nvPr/>
        </p:nvSpPr>
        <p:spPr>
          <a:xfrm>
            <a:off x="10167938" y="2814161"/>
            <a:ext cx="2738795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Врачи (Doctor)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10167938" y="3287911"/>
            <a:ext cx="3695581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Управление пациентами и измерениями, добавление показателей здоровья, отслеживание критических значений, анализ динамики, работа с отчётами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253282" y="5774412"/>
            <a:ext cx="219075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53282" y="6116360"/>
            <a:ext cx="7610237" cy="30480"/>
          </a:xfrm>
          <a:prstGeom prst="rect">
            <a:avLst/>
          </a:prstGeom>
          <a:solidFill>
            <a:srgbClr val="437066"/>
          </a:solidFill>
          <a:ln/>
        </p:spPr>
      </p:sp>
      <p:sp>
        <p:nvSpPr>
          <p:cNvPr id="14" name="Text 11"/>
          <p:cNvSpPr/>
          <p:nvPr/>
        </p:nvSpPr>
        <p:spPr>
          <a:xfrm>
            <a:off x="6253282" y="6286857"/>
            <a:ext cx="3327321" cy="342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Администраторы (Admin)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6253282" y="6760607"/>
            <a:ext cx="7610237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Полный контроль: CRUD операции с пациентами, измерениями и отчётами, деактивация записей, редактирование любых данных</a:t>
            </a:r>
            <a:endParaRPr lang="en-US" sz="17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4B56B54-ACFA-4D2F-9F3A-DF39B8AB0B44}"/>
              </a:ext>
            </a:extLst>
          </p:cNvPr>
          <p:cNvSpPr/>
          <p:nvPr/>
        </p:nvSpPr>
        <p:spPr>
          <a:xfrm>
            <a:off x="12790516" y="7747462"/>
            <a:ext cx="1778924" cy="423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47562"/>
            <a:ext cx="1967508" cy="426244"/>
          </a:xfrm>
          <a:prstGeom prst="roundRect">
            <a:avLst>
              <a:gd name="adj" fmla="val 17880"/>
            </a:avLst>
          </a:prstGeom>
          <a:solidFill>
            <a:srgbClr val="DFEC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9878" y="1569958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515547"/>
            <a:ext cx="142315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БЕЗОПАСНОСТЬ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976438"/>
            <a:ext cx="83737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Система ролей и прав доступа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1133951" y="3932634"/>
            <a:ext cx="3856077" cy="226814"/>
          </a:xfrm>
          <a:prstGeom prst="roundRect">
            <a:avLst>
              <a:gd name="adj" fmla="val 42003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3790" y="3705761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3930" y="3875901"/>
            <a:ext cx="340162" cy="340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0604" y="4613077"/>
            <a:ext cx="29577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Viewer (Наблюдатель)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20604" y="5103495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Роль по умолчанию. Просмотр главной страницы и базовый просмотр списка пациентов без возможности редактирования.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5557123" y="3592354"/>
            <a:ext cx="3856077" cy="226814"/>
          </a:xfrm>
          <a:prstGeom prst="roundRect">
            <a:avLst>
              <a:gd name="adj" fmla="val 42003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216962" y="3365480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87102" y="3535620"/>
            <a:ext cx="340162" cy="3401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43776" y="42727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Doctor (Врач)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5443776" y="4763214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Требует авторизацию. Все права наблюдателя плюс управление пациентами, добавление измерений, просмотр отчётов.</a:t>
            </a:r>
            <a:endParaRPr lang="en-US" sz="1750" dirty="0"/>
          </a:p>
        </p:txBody>
      </p:sp>
      <p:sp>
        <p:nvSpPr>
          <p:cNvPr id="16" name="Shape 11"/>
          <p:cNvSpPr/>
          <p:nvPr/>
        </p:nvSpPr>
        <p:spPr>
          <a:xfrm>
            <a:off x="9980295" y="3252192"/>
            <a:ext cx="3856077" cy="226814"/>
          </a:xfrm>
          <a:prstGeom prst="roundRect">
            <a:avLst>
              <a:gd name="adj" fmla="val 42003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640133" y="3025319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10274" y="3195459"/>
            <a:ext cx="340162" cy="34016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866948" y="3932634"/>
            <a:ext cx="32254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Admin (Администратор)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9866948" y="4423053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Максимальные права. Полное управление всеми данными, CRUD операции, доступ к разделу администрирования.</a:t>
            </a:r>
            <a:endParaRPr lang="en-US" sz="1750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A209E8F-30CE-4C36-BE0F-A680BD06A668}"/>
              </a:ext>
            </a:extLst>
          </p:cNvPr>
          <p:cNvSpPr/>
          <p:nvPr/>
        </p:nvSpPr>
        <p:spPr>
          <a:xfrm>
            <a:off x="12790516" y="7747462"/>
            <a:ext cx="1778924" cy="423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18360" y="452080"/>
            <a:ext cx="5127069" cy="513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Архитектура приложения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118360" y="1396722"/>
            <a:ext cx="4996458" cy="1321118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41220" y="1419582"/>
            <a:ext cx="657225" cy="1275398"/>
          </a:xfrm>
          <a:prstGeom prst="roundRect">
            <a:avLst>
              <a:gd name="adj" fmla="val 6327"/>
            </a:avLst>
          </a:prstGeom>
          <a:solidFill>
            <a:srgbClr val="DFECE9"/>
          </a:solidFill>
          <a:ln/>
        </p:spPr>
      </p:sp>
      <p:sp>
        <p:nvSpPr>
          <p:cNvPr id="5" name="Text 3"/>
          <p:cNvSpPr/>
          <p:nvPr/>
        </p:nvSpPr>
        <p:spPr>
          <a:xfrm>
            <a:off x="2342793" y="1903214"/>
            <a:ext cx="246459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2962751" y="1583888"/>
            <a:ext cx="2054066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Components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62751" y="2004893"/>
            <a:ext cx="39649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UI компоненты, Layout, модальные окна (LoginModal, ConfirmModal)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118360" y="2882146"/>
            <a:ext cx="4996458" cy="1321118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1220" y="2905006"/>
            <a:ext cx="657225" cy="1275398"/>
          </a:xfrm>
          <a:prstGeom prst="roundRect">
            <a:avLst>
              <a:gd name="adj" fmla="val 6327"/>
            </a:avLst>
          </a:prstGeom>
          <a:solidFill>
            <a:srgbClr val="DFECE9"/>
          </a:solidFill>
          <a:ln/>
        </p:spPr>
      </p:sp>
      <p:sp>
        <p:nvSpPr>
          <p:cNvPr id="10" name="Text 8"/>
          <p:cNvSpPr/>
          <p:nvPr/>
        </p:nvSpPr>
        <p:spPr>
          <a:xfrm>
            <a:off x="2342793" y="3388638"/>
            <a:ext cx="246459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962751" y="3069312"/>
            <a:ext cx="2054066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Pages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62751" y="3490317"/>
            <a:ext cx="39649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HomePage, PatientsPage, MeasurementsPage, ReportsPage, AdminPage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118360" y="4367570"/>
            <a:ext cx="4996458" cy="105822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41220" y="4390430"/>
            <a:ext cx="657225" cy="1012508"/>
          </a:xfrm>
          <a:prstGeom prst="roundRect">
            <a:avLst>
              <a:gd name="adj" fmla="val 6327"/>
            </a:avLst>
          </a:prstGeom>
          <a:solidFill>
            <a:srgbClr val="DFECE9"/>
          </a:solidFill>
          <a:ln/>
        </p:spPr>
      </p:sp>
      <p:sp>
        <p:nvSpPr>
          <p:cNvPr id="15" name="Text 13"/>
          <p:cNvSpPr/>
          <p:nvPr/>
        </p:nvSpPr>
        <p:spPr>
          <a:xfrm>
            <a:off x="2342793" y="4742617"/>
            <a:ext cx="246459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962751" y="4554736"/>
            <a:ext cx="2054066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Store (MobX)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62751" y="4975741"/>
            <a:ext cx="3964900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AuthStore, DataStore, NavigationStore, UIStore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118360" y="5590103"/>
            <a:ext cx="4996458" cy="105822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22860">
            <a:solidFill>
              <a:srgbClr val="C5D2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41220" y="5612963"/>
            <a:ext cx="657225" cy="1012508"/>
          </a:xfrm>
          <a:prstGeom prst="roundRect">
            <a:avLst>
              <a:gd name="adj" fmla="val 6327"/>
            </a:avLst>
          </a:prstGeom>
          <a:solidFill>
            <a:srgbClr val="DFECE9"/>
          </a:solidFill>
          <a:ln/>
        </p:spPr>
      </p:sp>
      <p:sp>
        <p:nvSpPr>
          <p:cNvPr id="20" name="Text 18"/>
          <p:cNvSpPr/>
          <p:nvPr/>
        </p:nvSpPr>
        <p:spPr>
          <a:xfrm>
            <a:off x="2342793" y="5965150"/>
            <a:ext cx="246459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2962751" y="5777270"/>
            <a:ext cx="2054066" cy="256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Types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962751" y="6198275"/>
            <a:ext cx="3964900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TypeScript интерфейсы для всех сущностей</a:t>
            </a:r>
            <a:endParaRPr lang="en-US" sz="12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3202" y="1396722"/>
            <a:ext cx="4996458" cy="499645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523202" y="6577965"/>
            <a:ext cx="499645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Модульная архитектура обеспечивает масштабируемость и лёгкость поддержки кода. Разделение на компоненты, страницы и хранилища следует лучшим практикам React-разработки.</a:t>
            </a:r>
            <a:endParaRPr lang="en-US" sz="1250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A6993BF-6DD5-4226-AAED-46EE3DAEB2B6}"/>
              </a:ext>
            </a:extLst>
          </p:cNvPr>
          <p:cNvSpPr/>
          <p:nvPr/>
        </p:nvSpPr>
        <p:spPr>
          <a:xfrm>
            <a:off x="12790516" y="7747462"/>
            <a:ext cx="1778924" cy="423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1223"/>
            <a:ext cx="882860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Структура медицинских данных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73630"/>
            <a:ext cx="4196358" cy="4644747"/>
          </a:xfrm>
          <a:prstGeom prst="roundRect">
            <a:avLst>
              <a:gd name="adj" fmla="val 22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60806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2795111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5153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Patient (Пациент)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00573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Личные данные: ФИО, дата рождения, пол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28224" y="4810839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Контакты: телефон, email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28224" y="525303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Медицинская информация: диагноз, заметки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28224" y="6058138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Статус активности записи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216962" y="2373630"/>
            <a:ext cx="4196358" cy="4644747"/>
          </a:xfrm>
          <a:prstGeom prst="roundRect">
            <a:avLst>
              <a:gd name="adj" fmla="val 22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51396" y="260806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562" y="2795111"/>
            <a:ext cx="306110" cy="3061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51396" y="3515320"/>
            <a:ext cx="35119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Measurement (Измерение)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5451396" y="4005739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Типы: давление, пульс, температура, сахар, вес, кислород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5451396" y="5173742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Значение, единица измерения, дата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5451396" y="5978843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Флаг критичности показателя</a:t>
            </a:r>
            <a:endParaRPr lang="en-US" sz="1750" dirty="0"/>
          </a:p>
        </p:txBody>
      </p:sp>
      <p:sp>
        <p:nvSpPr>
          <p:cNvPr id="18" name="Text 14"/>
          <p:cNvSpPr/>
          <p:nvPr/>
        </p:nvSpPr>
        <p:spPr>
          <a:xfrm>
            <a:off x="5451396" y="6421041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Заметки врача</a:t>
            </a:r>
            <a:endParaRPr lang="en-US" sz="1750" dirty="0"/>
          </a:p>
        </p:txBody>
      </p:sp>
      <p:sp>
        <p:nvSpPr>
          <p:cNvPr id="19" name="Shape 15"/>
          <p:cNvSpPr/>
          <p:nvPr/>
        </p:nvSpPr>
        <p:spPr>
          <a:xfrm>
            <a:off x="9640133" y="2373630"/>
            <a:ext cx="4196358" cy="4644747"/>
          </a:xfrm>
          <a:prstGeom prst="roundRect">
            <a:avLst>
              <a:gd name="adj" fmla="val 2270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874568" y="260806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37066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2795111"/>
            <a:ext cx="306110" cy="30611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874568" y="35153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Report (Отчёт)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9874568" y="400573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Заголовок и содержание отчёта</a:t>
            </a:r>
            <a:endParaRPr lang="en-US" sz="1750" dirty="0"/>
          </a:p>
        </p:txBody>
      </p:sp>
      <p:sp>
        <p:nvSpPr>
          <p:cNvPr id="24" name="Text 19"/>
          <p:cNvSpPr/>
          <p:nvPr/>
        </p:nvSpPr>
        <p:spPr>
          <a:xfrm>
            <a:off x="9874568" y="4810839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Привязка к пациенту</a:t>
            </a:r>
            <a:endParaRPr lang="en-US" sz="1750" dirty="0"/>
          </a:p>
        </p:txBody>
      </p:sp>
      <p:sp>
        <p:nvSpPr>
          <p:cNvPr id="25" name="Text 20"/>
          <p:cNvSpPr/>
          <p:nvPr/>
        </p:nvSpPr>
        <p:spPr>
          <a:xfrm>
            <a:off x="9874568" y="5253038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Период наблюдения</a:t>
            </a:r>
            <a:endParaRPr lang="en-US" sz="1750" dirty="0"/>
          </a:p>
        </p:txBody>
      </p:sp>
      <p:sp>
        <p:nvSpPr>
          <p:cNvPr id="26" name="Text 21"/>
          <p:cNvSpPr/>
          <p:nvPr/>
        </p:nvSpPr>
        <p:spPr>
          <a:xfrm>
            <a:off x="9874568" y="5695236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Дата создания и статус</a:t>
            </a:r>
            <a:endParaRPr lang="en-US" sz="1750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D07BD629-2381-4FFB-B78C-353ED95F0B42}"/>
              </a:ext>
            </a:extLst>
          </p:cNvPr>
          <p:cNvSpPr/>
          <p:nvPr/>
        </p:nvSpPr>
        <p:spPr>
          <a:xfrm>
            <a:off x="12790516" y="7747462"/>
            <a:ext cx="1778924" cy="423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92699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Ключевые функции мониторинга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23511" y="2513290"/>
            <a:ext cx="33823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Артериальное давление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003709"/>
            <a:ext cx="401204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Систолическое и диастолическое измерения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6508" y="3142536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24442" y="26947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Частота пульса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824442" y="3185160"/>
            <a:ext cx="4012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Отслеживание сердечного ритма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44326" y="3142536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1256" y="42692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Температура тела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0051256" y="4759643"/>
            <a:ext cx="378535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Контроль температурных показателей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43117" y="4526161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824442" y="60252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Уровень сахара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9824442" y="6515695"/>
            <a:ext cx="4012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Мониторинг глюкозы в крови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44326" y="5909786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970603" y="60252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Масса тела</a:t>
            </a:r>
            <a:endParaRPr lang="en-US" sz="2200" dirty="0"/>
          </a:p>
        </p:txBody>
      </p:sp>
      <p:sp>
        <p:nvSpPr>
          <p:cNvPr id="20" name="Text 10"/>
          <p:cNvSpPr/>
          <p:nvPr/>
        </p:nvSpPr>
        <p:spPr>
          <a:xfrm>
            <a:off x="793790" y="6515695"/>
            <a:ext cx="40120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Отслеживание динамики веса</a:t>
            </a:r>
            <a:endParaRPr lang="en-US" sz="175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46508" y="5909786"/>
            <a:ext cx="339328" cy="339328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1598176" y="4450675"/>
            <a:ext cx="29808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Сатурация кислорода</a:t>
            </a:r>
            <a:endParaRPr lang="en-US" sz="2200" dirty="0"/>
          </a:p>
        </p:txBody>
      </p:sp>
      <p:sp>
        <p:nvSpPr>
          <p:cNvPr id="24" name="Text 12"/>
          <p:cNvSpPr/>
          <p:nvPr/>
        </p:nvSpPr>
        <p:spPr>
          <a:xfrm>
            <a:off x="793790" y="4941094"/>
            <a:ext cx="3785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Уровень кислорода в крови</a:t>
            </a:r>
            <a:endParaRPr lang="en-US" sz="1750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47717" y="4526161"/>
            <a:ext cx="339328" cy="339328"/>
          </a:xfrm>
          <a:prstGeom prst="rect">
            <a:avLst/>
          </a:prstGeom>
        </p:spPr>
      </p:pic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ED2423F-2CF3-46B9-BF8F-892A81950E69}"/>
              </a:ext>
            </a:extLst>
          </p:cNvPr>
          <p:cNvSpPr/>
          <p:nvPr/>
        </p:nvSpPr>
        <p:spPr>
          <a:xfrm>
            <a:off x="12790516" y="7747462"/>
            <a:ext cx="1778924" cy="423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59841" y="2058352"/>
            <a:ext cx="1776770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370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203549" y="2133957"/>
            <a:ext cx="148935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250"/>
              </a:lnSpc>
              <a:buNone/>
            </a:pPr>
            <a:r>
              <a:rPr lang="en-US" sz="140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ПРЕИМУЩЕСТВА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662833" y="2590562"/>
            <a:ext cx="111737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Ценность для медицинских учреждений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8663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1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Быстрая навигация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356735"/>
            <a:ext cx="304800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SPA архитектура обеспечивает мгновенный переход между разделами без перезагрузки страницы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125278" y="3866317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Критические уведомления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4711065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Автоматическое выявление опасных отклонений показателей от нормы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38663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Анализ динамики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56884" y="4356735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Визуализация изменений состояния пациента в режиме реального времени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788491" y="38663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Надёжное хранение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788491" y="4356735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Firebase Realtime Database гарантирует безопасность медицинских данных</a:t>
            </a:r>
            <a:endParaRPr lang="en-US" sz="17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CA8A9FF-BD13-4488-9BA6-065BA91E924B}"/>
              </a:ext>
            </a:extLst>
          </p:cNvPr>
          <p:cNvSpPr/>
          <p:nvPr/>
        </p:nvSpPr>
        <p:spPr>
          <a:xfrm>
            <a:off x="12790516" y="7747462"/>
            <a:ext cx="1778924" cy="423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83224" y="463629"/>
            <a:ext cx="5034558" cy="526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Запуск и развёртывание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224" y="1433036"/>
            <a:ext cx="842963" cy="13127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94779" y="1601629"/>
            <a:ext cx="2544247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Установка зависимостей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2994779" y="2054662"/>
            <a:ext cx="5222200" cy="522565"/>
          </a:xfrm>
          <a:prstGeom prst="roundRect">
            <a:avLst>
              <a:gd name="adj" fmla="val 13551"/>
            </a:avLst>
          </a:prstGeom>
          <a:solidFill>
            <a:srgbClr val="F2F2F2"/>
          </a:solidFill>
          <a:ln/>
        </p:spPr>
      </p:sp>
      <p:sp>
        <p:nvSpPr>
          <p:cNvPr id="6" name="Shape 3"/>
          <p:cNvSpPr/>
          <p:nvPr/>
        </p:nvSpPr>
        <p:spPr>
          <a:xfrm>
            <a:off x="2986445" y="2054662"/>
            <a:ext cx="5238869" cy="522565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3155037" y="2181106"/>
            <a:ext cx="4901684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3224" y="2745819"/>
            <a:ext cx="842963" cy="13127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94779" y="2914412"/>
            <a:ext cx="3779282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Запуск dev-сервера (для разработки)</a:t>
            </a:r>
            <a:endParaRPr lang="en-US" sz="1650" dirty="0"/>
          </a:p>
        </p:txBody>
      </p:sp>
      <p:sp>
        <p:nvSpPr>
          <p:cNvPr id="10" name="Shape 6"/>
          <p:cNvSpPr/>
          <p:nvPr/>
        </p:nvSpPr>
        <p:spPr>
          <a:xfrm>
            <a:off x="2994779" y="3367445"/>
            <a:ext cx="5222200" cy="522565"/>
          </a:xfrm>
          <a:prstGeom prst="roundRect">
            <a:avLst>
              <a:gd name="adj" fmla="val 13551"/>
            </a:avLst>
          </a:prstGeom>
          <a:solidFill>
            <a:srgbClr val="F2F2F2"/>
          </a:solidFill>
          <a:ln/>
        </p:spPr>
      </p:sp>
      <p:sp>
        <p:nvSpPr>
          <p:cNvPr id="11" name="Shape 7"/>
          <p:cNvSpPr/>
          <p:nvPr/>
        </p:nvSpPr>
        <p:spPr>
          <a:xfrm>
            <a:off x="2986445" y="3367445"/>
            <a:ext cx="5238869" cy="522565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12" name="Text 8"/>
          <p:cNvSpPr/>
          <p:nvPr/>
        </p:nvSpPr>
        <p:spPr>
          <a:xfrm>
            <a:off x="3155037" y="3493889"/>
            <a:ext cx="4901684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3224" y="4058602"/>
            <a:ext cx="842963" cy="131278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94779" y="4227195"/>
            <a:ext cx="2107406" cy="263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Сборка проекта</a:t>
            </a:r>
            <a:endParaRPr lang="en-US" sz="1650" dirty="0"/>
          </a:p>
        </p:txBody>
      </p:sp>
      <p:sp>
        <p:nvSpPr>
          <p:cNvPr id="15" name="Shape 10"/>
          <p:cNvSpPr/>
          <p:nvPr/>
        </p:nvSpPr>
        <p:spPr>
          <a:xfrm>
            <a:off x="2994779" y="4680228"/>
            <a:ext cx="5222200" cy="522565"/>
          </a:xfrm>
          <a:prstGeom prst="roundRect">
            <a:avLst>
              <a:gd name="adj" fmla="val 13551"/>
            </a:avLst>
          </a:prstGeom>
          <a:solidFill>
            <a:srgbClr val="F2F2F2"/>
          </a:solidFill>
          <a:ln/>
        </p:spPr>
      </p:sp>
      <p:sp>
        <p:nvSpPr>
          <p:cNvPr id="16" name="Shape 11"/>
          <p:cNvSpPr/>
          <p:nvPr/>
        </p:nvSpPr>
        <p:spPr>
          <a:xfrm>
            <a:off x="2986445" y="4680228"/>
            <a:ext cx="5238869" cy="522565"/>
          </a:xfrm>
          <a:prstGeom prst="roundRect">
            <a:avLst>
              <a:gd name="adj" fmla="val 4840"/>
            </a:avLst>
          </a:prstGeom>
          <a:solidFill>
            <a:srgbClr val="F2F2F2"/>
          </a:solidFill>
          <a:ln/>
        </p:spPr>
      </p:sp>
      <p:sp>
        <p:nvSpPr>
          <p:cNvPr id="17" name="Text 12"/>
          <p:cNvSpPr/>
          <p:nvPr/>
        </p:nvSpPr>
        <p:spPr>
          <a:xfrm>
            <a:off x="3155037" y="4806672"/>
            <a:ext cx="4901684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1983224" y="5561052"/>
            <a:ext cx="6233755" cy="986076"/>
          </a:xfrm>
          <a:prstGeom prst="roundRect">
            <a:avLst>
              <a:gd name="adj" fmla="val 7181"/>
            </a:avLst>
          </a:prstGeom>
          <a:solidFill>
            <a:srgbClr val="CFE2DE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1817" y="5791914"/>
            <a:ext cx="210741" cy="16859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531150" y="5771793"/>
            <a:ext cx="5517237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ru-RU" sz="130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Рекомендации</a:t>
            </a:r>
            <a:r>
              <a:rPr lang="en-US" sz="1300" b="1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:</a:t>
            </a:r>
            <a:r>
              <a:rPr lang="en-US" sz="13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Node.js версии 18 </a:t>
            </a:r>
            <a:r>
              <a:rPr lang="en-US" sz="1300" dirty="0" err="1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или</a:t>
            </a:r>
            <a:r>
              <a:rPr lang="en-US" sz="13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</a:t>
            </a:r>
            <a:r>
              <a:rPr lang="en-US" sz="1300" dirty="0" err="1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выше</a:t>
            </a:r>
            <a:r>
              <a:rPr lang="ru-RU" sz="130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.</a:t>
            </a:r>
            <a:endParaRPr lang="en-US" sz="13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5841" y="1433036"/>
            <a:ext cx="4018717" cy="4018717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1983224" y="7010759"/>
            <a:ext cx="10663833" cy="28694"/>
          </a:xfrm>
          <a:prstGeom prst="rect">
            <a:avLst/>
          </a:prstGeom>
          <a:solidFill>
            <a:srgbClr val="2C3249">
              <a:alpha val="50000"/>
            </a:srgbClr>
          </a:solidFill>
          <a:ln/>
        </p:spPr>
      </p:sp>
      <p:sp>
        <p:nvSpPr>
          <p:cNvPr id="23" name="Text 16"/>
          <p:cNvSpPr/>
          <p:nvPr/>
        </p:nvSpPr>
        <p:spPr>
          <a:xfrm>
            <a:off x="1983224" y="7229118"/>
            <a:ext cx="10663833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Проект готов к использованию и дальнейшему развитию. Модульная архитектура позволяет легко добавлять новые функции и интеграции.</a:t>
            </a:r>
            <a:endParaRPr lang="en-US" sz="1300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6A82B45-8FA3-406B-917A-65F87B43A034}"/>
              </a:ext>
            </a:extLst>
          </p:cNvPr>
          <p:cNvSpPr/>
          <p:nvPr/>
        </p:nvSpPr>
        <p:spPr>
          <a:xfrm>
            <a:off x="12790516" y="7747462"/>
            <a:ext cx="1778924" cy="423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</Words>
  <Application>Microsoft Office PowerPoint</Application>
  <PresentationFormat>Произвольный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Consolas</vt:lpstr>
      <vt:lpstr>Kanit Light</vt:lpstr>
      <vt:lpstr>Calibri</vt:lpstr>
      <vt:lpstr>Martel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Никита Смирнов</cp:lastModifiedBy>
  <cp:revision>4</cp:revision>
  <dcterms:created xsi:type="dcterms:W3CDTF">2026-01-06T21:04:03Z</dcterms:created>
  <dcterms:modified xsi:type="dcterms:W3CDTF">2026-01-06T21:11:20Z</dcterms:modified>
</cp:coreProperties>
</file>